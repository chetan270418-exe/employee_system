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457200"/>
            <a:ext cx="2743200" cy="2743200"/>
          </a:xfrm>
          <a:prstGeom prst="ellipse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CLOUD COMPUTING INTERNSHIP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Cloud-Based Smart Employee Attendance</a:t>
            </a:r>
            <a:br/>
            <a:r>
              <a:t>&amp; Payroll Management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017520"/>
            <a:ext cx="301752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C7D9"/>
                </a:solidFill>
                <a:latin typeface="Segoe UI"/>
              </a:defRPr>
            </a:pPr>
            <a:r>
              <a:t>Deployed on AWS EC2 with RDS MySQL &amp; S3 Bucket 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572000"/>
            <a:ext cx="1463040" cy="502920"/>
          </a:xfrm>
          <a:prstGeom prst="roundRect">
            <a:avLst/>
          </a:prstGeom>
          <a:solidFill>
            <a:srgbClr val="1A2C47"/>
          </a:solidFill>
          <a:ln w="19050">
            <a:solidFill>
              <a:srgbClr val="23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617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38BE6"/>
                </a:solidFill>
                <a:latin typeface="Segoe UI"/>
              </a:defRPr>
            </a:pPr>
            <a:r>
              <a:t>Python Flask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4572000"/>
            <a:ext cx="1463040" cy="502920"/>
          </a:xfrm>
          <a:prstGeom prst="roundRect">
            <a:avLst/>
          </a:prstGeom>
          <a:solidFill>
            <a:srgbClr val="1A2C47"/>
          </a:solidFill>
          <a:ln w="19050">
            <a:solidFill>
              <a:srgbClr val="23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4617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38BE6"/>
                </a:solidFill>
                <a:latin typeface="Segoe UI"/>
              </a:defRPr>
            </a:pPr>
            <a:r>
              <a:t>AWS EC2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4572000"/>
            <a:ext cx="1463040" cy="502920"/>
          </a:xfrm>
          <a:prstGeom prst="roundRect">
            <a:avLst/>
          </a:prstGeom>
          <a:solidFill>
            <a:srgbClr val="1A2C47"/>
          </a:solidFill>
          <a:ln w="19050">
            <a:solidFill>
              <a:srgbClr val="23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617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38BE6"/>
                </a:solidFill>
                <a:latin typeface="Segoe UI"/>
              </a:defRPr>
            </a:pPr>
            <a:r>
              <a:t>AWS 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572000"/>
            <a:ext cx="1463040" cy="502920"/>
          </a:xfrm>
          <a:prstGeom prst="roundRect">
            <a:avLst/>
          </a:prstGeom>
          <a:solidFill>
            <a:srgbClr val="1A2C47"/>
          </a:solidFill>
          <a:ln w="19050">
            <a:solidFill>
              <a:srgbClr val="23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4617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38BE6"/>
                </a:solidFill>
                <a:latin typeface="Segoe UI"/>
              </a:defRPr>
            </a:pPr>
            <a:r>
              <a:t>AWS S3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572000"/>
            <a:ext cx="1463040" cy="502920"/>
          </a:xfrm>
          <a:prstGeom prst="roundRect">
            <a:avLst/>
          </a:prstGeom>
          <a:solidFill>
            <a:srgbClr val="1A2C47"/>
          </a:solidFill>
          <a:ln w="19050">
            <a:solidFill>
              <a:srgbClr val="23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4617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38BE6"/>
                </a:solidFill>
                <a:latin typeface="Segoe UI"/>
              </a:defRPr>
            </a:pPr>
            <a:r>
              <a:t>MySQL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4572000"/>
            <a:ext cx="1463040" cy="502920"/>
          </a:xfrm>
          <a:prstGeom prst="roundRect">
            <a:avLst/>
          </a:prstGeom>
          <a:solidFill>
            <a:srgbClr val="1A2C47"/>
          </a:solidFill>
          <a:ln w="19050">
            <a:solidFill>
              <a:srgbClr val="23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4617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38BE6"/>
                </a:solidFill>
                <a:latin typeface="Segoe UI"/>
              </a:defRPr>
            </a:pPr>
            <a:r>
              <a:t>Nginx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BB0"/>
                </a:solidFill>
                <a:latin typeface="Segoe UI"/>
              </a:defRPr>
            </a:pPr>
            <a:r>
              <a:t>Presented by: Chetan  |  Internship: Cloud Computing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A9BB0"/>
                </a:solidFill>
                <a:latin typeface="Segoe UI"/>
              </a:defRPr>
            </a:pPr>
            <a: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457200"/>
            <a:ext cx="2743200" cy="2743200"/>
          </a:xfrm>
          <a:prstGeom prst="ellipse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What We Will Cover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02920" cy="50292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B2D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11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Project Overview &amp;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31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What is EmpTrack and why we built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502920" cy="50292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B2D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System Architecture &amp; Tech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246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Flask, MySQL, AWS infrastructure design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502920" cy="50292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862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B2D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840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AWS Services 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160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EC2, RDS, S3 — What and Why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54880"/>
            <a:ext cx="502920" cy="50292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8006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B2D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754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Phase 1: Local 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074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Building the application on localhost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669280"/>
            <a:ext cx="502920" cy="50292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7150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B2D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669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Phase 2: AWS EC2 Setup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989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Launching &amp; configuring the cloud server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011680"/>
            <a:ext cx="502920" cy="50292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0574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B2D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2011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Phase 3: AWS RDS Setup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331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Creating the managed MySQL database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2926080"/>
            <a:ext cx="502920" cy="50292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29718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B2D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2926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Phase 4: AWS S3 Setup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246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Setting up file/document storage bucket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840480"/>
            <a:ext cx="502920" cy="50292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8862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B2D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3840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Phase 5: Deployment &amp; Go-Live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4160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Nginx, Gunicorn, Security Groups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754880"/>
            <a:ext cx="502920" cy="50292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8006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B2D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4754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Security &amp; Best Practices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5074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How we secured the system on AWS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5669280"/>
            <a:ext cx="502920" cy="50292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57150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B2D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5669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Live Demo &amp; Results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5989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Working application walkthrough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457200"/>
            <a:ext cx="2743200" cy="2743200"/>
          </a:xfrm>
          <a:prstGeom prst="ellipse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What is EmpTrack?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C7D9"/>
                </a:solidFill>
                <a:latin typeface="Segoe UI"/>
              </a:defRPr>
            </a:pPr>
            <a:r>
              <a:t>EmpTrack is a cloud-based Smart Employee Attendance &amp; Payroll Management System designed</a:t>
            </a:r>
            <a:br/>
            <a:r>
              <a:t>to automate HR operations including attendance tracking, leave management, payroll processing,</a:t>
            </a:r>
            <a:br/>
            <a:r>
              <a:t>and document management — all deployed on AWS cloud infrastructure.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347472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23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38BE6"/>
                </a:solidFill>
                <a:latin typeface="Segoe UI"/>
              </a:defRPr>
            </a:pPr>
            <a:r>
              <a:t>Smart Attendance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703320"/>
            <a:ext cx="1371600" cy="25400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404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7D9"/>
                </a:solidFill>
                <a:latin typeface="Segoe UI"/>
              </a:defRPr>
            </a:pPr>
            <a:r>
              <a:t>QR Code scanning, GPS</a:t>
            </a:r>
            <a:br/>
            <a:r>
              <a:t>location verification, and</a:t>
            </a:r>
            <a:br/>
            <a:r>
              <a:t>manual override options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3108960"/>
            <a:ext cx="347472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3291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900"/>
                </a:solidFill>
                <a:latin typeface="Segoe UI"/>
              </a:defRPr>
            </a:pPr>
            <a:r>
              <a:t>Automated Payroll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79" y="3703320"/>
            <a:ext cx="1371600" cy="25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79" y="38404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7D9"/>
                </a:solidFill>
                <a:latin typeface="Segoe UI"/>
              </a:defRPr>
            </a:pPr>
            <a:r>
              <a:t>Indian tax regime calculations</a:t>
            </a:r>
            <a:br/>
            <a:r>
              <a:t>PF, ESI, TDS deductions</a:t>
            </a:r>
            <a:br/>
            <a:r>
              <a:t>PDF salary slip generation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8" y="3108960"/>
            <a:ext cx="347472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18" y="3291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Segoe UI"/>
              </a:defRPr>
            </a:pPr>
            <a:r>
              <a:t>Role-Based Access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18" y="3703320"/>
            <a:ext cx="13716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18" y="38404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7D9"/>
                </a:solidFill>
                <a:latin typeface="Segoe UI"/>
              </a:defRPr>
            </a:pPr>
            <a:r>
              <a:t>Admin, HR, and Employee</a:t>
            </a:r>
            <a:br/>
            <a:r>
              <a:t>dashboards with specific</a:t>
            </a:r>
            <a:br/>
            <a:r>
              <a:t>permissions and workflows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1A2C47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577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Segoe UI"/>
              </a:defRPr>
            </a:pPr>
            <a:r>
              <a:t>Why Cloud-Based?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897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Traditional on-premise HR systems are costly, hard to scale, and require manual maintenance. Cloud deployment on AWS provides scalability, reliability, pay-as-you-go pricing, and global accessibility.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457200"/>
            <a:ext cx="2743200" cy="2743200"/>
          </a:xfrm>
          <a:prstGeom prst="ellipse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What We Aimed to Achieve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828800"/>
            <a:ext cx="411480" cy="41148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562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B2D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Automate Attendance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48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Replace manual attendance registers with smart QR code scanning and GPS-based location verification to eliminate proxy attendance.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788920"/>
            <a:ext cx="411480" cy="41148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1635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B2D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788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Automated Payroll 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1089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Calculate monthly salaries automatically considering working days, overtime, leaves, PF (12%), ESI (0.75%), and Indian income tax slabs.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749040"/>
            <a:ext cx="411480" cy="41148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764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B2D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749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Cloud Deployment on AWS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69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Deploy the application on AWS EC2, connect to a managed RDS MySQL database, and use S3 for secure document storage.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709160"/>
            <a:ext cx="411480" cy="41148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73659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B2D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709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Role-Based Access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029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Implement Admin, HR, and Employee roles with specific dashboards and permission-gated features.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5669280"/>
            <a:ext cx="411480" cy="41148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69671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B2D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669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Scalable &amp; Secure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989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Design the system using AWS VPC security groups, Nginx reverse proxy, and Gunicorn WSGI server for production-grade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457200"/>
            <a:ext cx="2743200" cy="2743200"/>
          </a:xfrm>
          <a:prstGeom prst="ellipse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How the System is Designed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2011680" cy="1371600"/>
          </a:xfrm>
          <a:prstGeom prst="roundRect">
            <a:avLst/>
          </a:prstGeom>
          <a:solidFill>
            <a:srgbClr val="1A2C47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880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End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461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Admin / HR / Employee</a:t>
            </a:r>
            <a:br/>
            <a:r>
              <a:t>Web Browser Access</a:t>
            </a:r>
            <a:br/>
            <a:r>
              <a:t>(Desktop &amp; Mobile)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60320" y="3200400"/>
            <a:ext cx="822960" cy="365760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1828800"/>
            <a:ext cx="8229600" cy="4572000"/>
          </a:xfrm>
          <a:prstGeom prst="roundRect">
            <a:avLst/>
          </a:prstGeom>
          <a:solidFill>
            <a:srgbClr val="122038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AWS CLOUD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2560320"/>
            <a:ext cx="3474720" cy="347472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23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651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38BE6"/>
                </a:solidFill>
                <a:latin typeface="Segoe UI"/>
              </a:defRPr>
            </a:pPr>
            <a:r>
              <a:t>AWS EC2 Instance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9718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9BB0"/>
                </a:solidFill>
                <a:latin typeface="Segoe UI"/>
              </a:defRPr>
            </a:pPr>
            <a:r>
              <a:t>Ubuntu Server (t2.micro)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3383280"/>
            <a:ext cx="2926080" cy="640080"/>
          </a:xfrm>
          <a:prstGeom prst="roundRect">
            <a:avLst/>
          </a:prstGeom>
          <a:solidFill>
            <a:srgbClr val="1A2C4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34290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  <a:latin typeface="Segoe UI"/>
              </a:defRPr>
            </a:pPr>
            <a:r>
              <a:t>Nginx Reverse Proxy (Port 80)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303520" y="4069080"/>
            <a:ext cx="365760" cy="365760"/>
          </a:xfrm>
          <a:prstGeom prst="downArrow">
            <a:avLst/>
          </a:prstGeom>
          <a:solidFill>
            <a:srgbClr val="BBC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14800" y="4480560"/>
            <a:ext cx="2926080" cy="640080"/>
          </a:xfrm>
          <a:prstGeom prst="roundRect">
            <a:avLst/>
          </a:prstGeom>
          <a:solidFill>
            <a:srgbClr val="1A2C47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45262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C3AED"/>
                </a:solidFill>
                <a:latin typeface="Segoe UI"/>
              </a:defRPr>
            </a:pPr>
            <a:r>
              <a:t>Gunicorn WSGI (Port 5000)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303520" y="5166360"/>
            <a:ext cx="365760" cy="365760"/>
          </a:xfrm>
          <a:prstGeom prst="downArrow">
            <a:avLst/>
          </a:prstGeom>
          <a:solidFill>
            <a:srgbClr val="BBC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14800" y="5577840"/>
            <a:ext cx="2926080" cy="502920"/>
          </a:xfrm>
          <a:prstGeom prst="roundRect">
            <a:avLst/>
          </a:prstGeom>
          <a:solidFill>
            <a:srgbClr val="1A2C47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0" y="55961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9900"/>
                </a:solidFill>
                <a:latin typeface="Segoe UI"/>
              </a:defRPr>
            </a:pPr>
            <a:r>
              <a:t>Flask Application (EmpTrack)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560320"/>
            <a:ext cx="3200400" cy="182880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2651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9900"/>
                </a:solidFill>
                <a:latin typeface="Segoe UI"/>
              </a:defRPr>
            </a:pPr>
            <a:r>
              <a:t>AWS 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0175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MySQL 8.0 Database</a:t>
            </a:r>
            <a:br/>
            <a:r>
              <a:t>db.t3.micro (Free Tier)</a:t>
            </a:r>
            <a:br/>
            <a:br/>
            <a:r>
              <a:t>Stores: Users, Attendance,</a:t>
            </a:r>
            <a:br/>
            <a:r>
              <a:t>Payroll, Leave, Documents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663440"/>
            <a:ext cx="3200400" cy="15544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4754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4AA"/>
                </a:solidFill>
                <a:latin typeface="Segoe UI"/>
              </a:defRPr>
            </a:pPr>
            <a:r>
              <a:t>AWS S3 Bucket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51206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Document &amp; File Storage</a:t>
            </a:r>
            <a:br/>
            <a:br/>
            <a:r>
              <a:t>Stores: Resumes, PAN,</a:t>
            </a:r>
            <a:br/>
            <a:r>
              <a:t>Aadhaar, Salary Slips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406640" y="3200400"/>
            <a:ext cx="548640" cy="274320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7406640" y="5120640"/>
            <a:ext cx="548640" cy="274320"/>
          </a:xfrm>
          <a:prstGeom prst="rightArrow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457200"/>
            <a:ext cx="2743200" cy="2743200"/>
          </a:xfrm>
          <a:prstGeom prst="ellipse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Tools &amp; Technologies Used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2697480" cy="438912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23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38BE6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560320"/>
            <a:ext cx="1783080" cy="25400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Python 3.11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Core programming 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Flask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Lightweight web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SQLAlchemy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54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ORM for database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303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Gunicorn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577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Production WSGI HTTP server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2011680"/>
            <a:ext cx="2697480" cy="438912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214884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900"/>
                </a:solidFill>
                <a:latin typeface="Segoe UI"/>
              </a:defRPr>
            </a:pPr>
            <a:r>
              <a:t>Database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94760" y="2560320"/>
            <a:ext cx="1783080" cy="25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MySQL 8.0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Relational database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AWS 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Managed database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PyMySQL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754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Python MySQL connector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5303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Flask-Migrate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5577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Database migration tool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011680"/>
            <a:ext cx="2697480" cy="438912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214884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AA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2560320"/>
            <a:ext cx="178308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HTML5 / Jinja2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Templating and structure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Vanilla CSS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Custom design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JavaScript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754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Dynamic UI interactions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303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Chart.js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577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Analytics &amp; data charts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98280" y="2011680"/>
            <a:ext cx="2697480" cy="438912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98280" y="214884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  <a:latin typeface="Segoe UI"/>
              </a:defRPr>
            </a:pPr>
            <a:r>
              <a:t>AWS Cloud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55480" y="2560320"/>
            <a:ext cx="178308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EC2 (t2.micro)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Virtual machine hosting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RDS MySQL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Managed database service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S3 Bucket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4754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File/document storage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5303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Security Groups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0" y="5577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Firewall &amp; access 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457200"/>
            <a:ext cx="2743200" cy="2743200"/>
          </a:xfrm>
          <a:prstGeom prst="ellipse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AWS 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Why Did We Choose AWS?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698480" cy="1097280"/>
          </a:xfrm>
          <a:prstGeom prst="roundRect">
            <a:avLst/>
          </a:prstGeom>
          <a:solidFill>
            <a:srgbClr val="1A2C47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Segoe UI"/>
              </a:defRPr>
            </a:pPr>
            <a:r>
              <a:t>Why not deploy on a regular shared hosting or a local server?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31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Shared hosting lacks root access, has limited scalability, and cannot run background processes like Gunicorn. Local servers require constant uptime, manual maintenance, and are not accessible globally. AWS provides enterprise-grade infrastructure with pay-as-you-go pricing.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91840"/>
            <a:ext cx="3566160" cy="320040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23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38BE6"/>
                </a:solidFill>
                <a:latin typeface="Segoe UI"/>
              </a:defRPr>
            </a:pPr>
            <a:r>
              <a:t>Amazon EC2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39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9BB0"/>
                </a:solidFill>
                <a:latin typeface="Segoe UI"/>
              </a:defRPr>
            </a:pPr>
            <a:r>
              <a:t>Elastic Compute Cloud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023360"/>
            <a:ext cx="2651760" cy="19050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2062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Virtual server (Ubuntu) to host</a:t>
            </a:r>
            <a:br/>
            <a:r>
              <a:t>our Flask application with Nginx</a:t>
            </a:r>
            <a:br/>
            <a:r>
              <a:t>and Gunicorn. Provides full root</a:t>
            </a:r>
            <a:br/>
            <a:r>
              <a:t>access and SSH connectivity.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578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BB0"/>
                </a:solidFill>
                <a:latin typeface="Segoe UI"/>
              </a:defRPr>
            </a:pPr>
            <a:r>
              <a:t>Why EC2? We need a full Linux</a:t>
            </a:r>
            <a:br/>
            <a:r>
              <a:t>server with root access to install</a:t>
            </a:r>
            <a:br/>
            <a:r>
              <a:t>Python, Nginx, and run Gunicorn</a:t>
            </a:r>
            <a:br/>
            <a:r>
              <a:t>as a background service.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291840"/>
            <a:ext cx="3566160" cy="320040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34290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900"/>
                </a:solidFill>
                <a:latin typeface="Segoe UI"/>
              </a:defRPr>
            </a:pPr>
            <a:r>
              <a:t>Amazon 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749039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9BB0"/>
                </a:solidFill>
                <a:latin typeface="Segoe UI"/>
              </a:defRPr>
            </a:pPr>
            <a:r>
              <a:t>Relational Database Service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4023360"/>
            <a:ext cx="265176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2062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Managed MySQL 8.0 database</a:t>
            </a:r>
            <a:br/>
            <a:r>
              <a:t>with automated backups, patches,</a:t>
            </a:r>
            <a:br/>
            <a:r>
              <a:t>and high availability. Stores all</a:t>
            </a:r>
            <a:br/>
            <a:r>
              <a:t>employee and payroll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52578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BB0"/>
                </a:solidFill>
                <a:latin typeface="Segoe UI"/>
              </a:defRPr>
            </a:pPr>
            <a:r>
              <a:t>Why RDS? Managing MySQL on</a:t>
            </a:r>
            <a:br/>
            <a:r>
              <a:t>EC2 requires manual backups,</a:t>
            </a:r>
            <a:br/>
            <a:r>
              <a:t>updates, and monitoring. RDS</a:t>
            </a:r>
            <a:br/>
            <a:r>
              <a:t>handles all of this automatically.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291840"/>
            <a:ext cx="3566160" cy="320040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34290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AA"/>
                </a:solidFill>
                <a:latin typeface="Segoe UI"/>
              </a:defRPr>
            </a:pPr>
            <a:r>
              <a:t>Amazon S3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749039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A9BB0"/>
                </a:solidFill>
                <a:latin typeface="Segoe UI"/>
              </a:defRPr>
            </a:pPr>
            <a:r>
              <a:t>Simple Storage 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95360" y="4023360"/>
            <a:ext cx="2651760" cy="1905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42062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Scalable object storage for</a:t>
            </a:r>
            <a:br/>
            <a:r>
              <a:t>employee documents (Resumes,</a:t>
            </a:r>
            <a:br/>
            <a:r>
              <a:t>PAN, Aadhaar, Salary PDFs).</a:t>
            </a:r>
            <a:br/>
            <a:r>
              <a:t>11 nines of durability.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52578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BB0"/>
                </a:solidFill>
                <a:latin typeface="Segoe UI"/>
              </a:defRPr>
            </a:pPr>
            <a:r>
              <a:t>Why S3? Storing files on EC2</a:t>
            </a:r>
            <a:br/>
            <a:r>
              <a:t>EBS is limited and expensive.</a:t>
            </a:r>
            <a:br/>
            <a:r>
              <a:t>S3 offers unlimited, durable</a:t>
            </a:r>
            <a:br/>
            <a:r>
              <a:t>storage at very low cost.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457200"/>
            <a:ext cx="2743200" cy="2743200"/>
          </a:xfrm>
          <a:prstGeom prst="ellipse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PHASE 1: LOCAL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Building the Application Locally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914400" cy="457200"/>
          </a:xfrm>
          <a:prstGeom prst="round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Setup Project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48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Created Flask app with Blueprint architecture:</a:t>
            </a:r>
            <a:br/>
            <a:r>
              <a:t>Models, Routes, Services, Templates, Static assets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914400" cy="457200"/>
          </a:xfrm>
          <a:prstGeom prst="round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788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Database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108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Designed 6 SQLAlchemy models:</a:t>
            </a:r>
            <a:br/>
            <a:r>
              <a:t>User, Department, Attendance, LeaveRequest,</a:t>
            </a:r>
            <a:br/>
            <a:r>
              <a:t>LeaveBalance, Payroll, Document, AuditLog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40"/>
            <a:ext cx="914400" cy="457200"/>
          </a:xfrm>
          <a:prstGeom prst="round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49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Business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69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Built payroll engine with Indian tax calculations:</a:t>
            </a:r>
            <a:br/>
            <a:r>
              <a:t>PF (12%), ESI (0.75%), TDS (Income Tax slabs),</a:t>
            </a:r>
            <a:br/>
            <a:r>
              <a:t>PDF salary slip generator using ReportLab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09160"/>
            <a:ext cx="914400" cy="457200"/>
          </a:xfrm>
          <a:prstGeom prst="round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Frontend &amp; Templates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029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Created 30+ Jinja2 HTML templates with a</a:t>
            </a:r>
            <a:br/>
            <a:r>
              <a:t>custom CSS design system, responsive sidebar</a:t>
            </a:r>
            <a:br/>
            <a:r>
              <a:t>layout, and Chart.js analytics dashboards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669280"/>
            <a:ext cx="914400" cy="457200"/>
          </a:xfrm>
          <a:prstGeom prst="round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715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Step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669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Local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989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Connected to local MySQL database,</a:t>
            </a:r>
            <a:br/>
            <a:r>
              <a:t>seeded demo data (Admin, HR, Employee accounts),</a:t>
            </a:r>
            <a:br/>
            <a:r>
              <a:t>tested all routes on http://localhost:5000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457200"/>
            <a:ext cx="2743200" cy="2743200"/>
          </a:xfrm>
          <a:prstGeom prst="ellipse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PHASE 2: AWS EC2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Launching the Cloud 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698480" cy="731520"/>
          </a:xfrm>
          <a:prstGeom prst="roundRect">
            <a:avLst/>
          </a:prstGeom>
          <a:solidFill>
            <a:srgbClr val="1A2C47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Segoe UI"/>
              </a:defRPr>
            </a:pPr>
            <a:r>
              <a:t>What is Amazon EC2?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Elastic Compute Cloud — A virtual server in the cloud. It gives you full control over the operating system, software, and network configuration.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926080"/>
            <a:ext cx="365760" cy="365760"/>
          </a:xfrm>
          <a:prstGeom prst="ellipse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443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971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7D9"/>
                </a:solidFill>
                <a:latin typeface="Segoe UI"/>
              </a:defRPr>
            </a:pPr>
            <a:r>
              <a:t>Go to AWS Console &gt; EC2 &gt; Launch Instance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794760"/>
            <a:ext cx="365760" cy="365760"/>
          </a:xfrm>
          <a:prstGeom prst="ellipse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130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7D9"/>
                </a:solidFill>
                <a:latin typeface="Segoe UI"/>
              </a:defRPr>
            </a:pPr>
            <a:r>
              <a:t>Name the instance: EmpTrack-Server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663440"/>
            <a:ext cx="365760" cy="365760"/>
          </a:xfrm>
          <a:prstGeom prst="ellipse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6817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709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7D9"/>
                </a:solidFill>
                <a:latin typeface="Segoe UI"/>
              </a:defRPr>
            </a:pPr>
            <a:r>
              <a:t>Select AMI: Ubuntu Server 22.04 LTS (64-bit)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5504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577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7D9"/>
                </a:solidFill>
                <a:latin typeface="Segoe UI"/>
              </a:defRPr>
            </a:pPr>
            <a:r>
              <a:t>Instance Type: t2.micro (Free Tier Eligible)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2926080"/>
            <a:ext cx="365760" cy="365760"/>
          </a:xfrm>
          <a:prstGeom prst="ellipse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9443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971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7D9"/>
                </a:solidFill>
                <a:latin typeface="Segoe UI"/>
              </a:defRPr>
            </a:pPr>
            <a:r>
              <a:t>Create Key Pair: emptrack-key.pem (RSA)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3794760"/>
            <a:ext cx="365760" cy="365760"/>
          </a:xfrm>
          <a:prstGeom prst="ellipse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8130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7D9"/>
                </a:solidFill>
                <a:latin typeface="Segoe UI"/>
              </a:defRPr>
            </a:pPr>
            <a:r>
              <a:t>Security Group: Allow SSH (22), HTTP (80), Custom TCP (5000)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4663440"/>
            <a:ext cx="365760" cy="365760"/>
          </a:xfrm>
          <a:prstGeom prst="ellipse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6817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4709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7D9"/>
                </a:solidFill>
                <a:latin typeface="Segoe UI"/>
              </a:defRPr>
            </a:pPr>
            <a:r>
              <a:t>Storage: 8 GB General Purpose SSD (gp3)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5532120"/>
            <a:ext cx="365760" cy="365760"/>
          </a:xfrm>
          <a:prstGeom prst="ellipse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5504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5577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7D9"/>
                </a:solidFill>
                <a:latin typeface="Segoe UI"/>
              </a:defRPr>
            </a:pPr>
            <a:r>
              <a:t>Click Launch Instance &gt; Copy Public IPv4 Address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943600"/>
            <a:ext cx="10698480" cy="548640"/>
          </a:xfrm>
          <a:prstGeom prst="round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9893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  <a:latin typeface="Consolas"/>
              </a:defRPr>
            </a:pPr>
            <a:r>
              <a:t>ssh -i "emptrack-key.pem" ubuntu@&lt;EC2_PUBLIC_IP&gt;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457200"/>
            <a:ext cx="2743200" cy="2743200"/>
          </a:xfrm>
          <a:prstGeom prst="ellipse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PHASE 3: AWS RDS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Creating the Managed MySQL 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698480" cy="731520"/>
          </a:xfrm>
          <a:prstGeom prst="roundRect">
            <a:avLst/>
          </a:prstGeom>
          <a:solidFill>
            <a:srgbClr val="1A2C47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Segoe UI"/>
              </a:defRPr>
            </a:pPr>
            <a:r>
              <a:t>Why RDS instead of installing MySQL directly on EC2?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RDS provides automated backups, automatic patching, multi-AZ failover, and monitoring — all managed by AWS. No manual DB administration needed.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926080"/>
            <a:ext cx="365760" cy="36576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443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B2D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971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7D9"/>
                </a:solidFill>
                <a:latin typeface="Segoe UI"/>
              </a:defRPr>
            </a:pPr>
            <a:r>
              <a:t>Go to AWS Console &gt; RDS &gt; Create Database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21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B2D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749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7D9"/>
                </a:solidFill>
                <a:latin typeface="Segoe UI"/>
              </a:defRPr>
            </a:pPr>
            <a:r>
              <a:t>Engine: MySQL 8.0 (Community Edition)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480560"/>
            <a:ext cx="365760" cy="36576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988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B2D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526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7D9"/>
                </a:solidFill>
                <a:latin typeface="Segoe UI"/>
              </a:defRPr>
            </a:pPr>
            <a:r>
              <a:t>Template: Free Tier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257800"/>
            <a:ext cx="365760" cy="36576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7608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B2D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303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7D9"/>
                </a:solidFill>
                <a:latin typeface="Segoe UI"/>
              </a:defRPr>
            </a:pPr>
            <a:r>
              <a:t>DB Instance: emptrack-db-instance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2926080"/>
            <a:ext cx="365760" cy="36576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9443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B2D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971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7D9"/>
                </a:solidFill>
                <a:latin typeface="Segoe UI"/>
              </a:defRPr>
            </a:pPr>
            <a:r>
              <a:t>Master User: admin / Strong Password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3703320"/>
            <a:ext cx="365760" cy="36576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721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B2D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749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7D9"/>
                </a:solidFill>
                <a:latin typeface="Segoe UI"/>
              </a:defRPr>
            </a:pPr>
            <a:r>
              <a:t>Instance: db.t3.micro (Free Tier)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4480560"/>
            <a:ext cx="365760" cy="36576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4988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B2D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4526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7D9"/>
                </a:solidFill>
                <a:latin typeface="Segoe UI"/>
              </a:defRPr>
            </a:pPr>
            <a:r>
              <a:t>Initial Database Name: employee_db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5257800"/>
            <a:ext cx="365760" cy="36576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27608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B2D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5303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7D9"/>
                </a:solidFill>
                <a:latin typeface="Segoe UI"/>
              </a:defRPr>
            </a:pPr>
            <a:r>
              <a:t>Security Group: emptrack-rds-sg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303520"/>
            <a:ext cx="10698480" cy="548640"/>
          </a:xfrm>
          <a:prstGeom prst="round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349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Consolas"/>
              </a:defRPr>
            </a:pPr>
            <a:r>
              <a:t>DATABASE_URL=mysql+pymysql://admin:password@emptrack-db-instance.xxxxx.rds.amazonaws.com/employee_db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943600"/>
            <a:ext cx="10698480" cy="6400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989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00"/>
                </a:solidFill>
                <a:latin typeface="Segoe UI"/>
              </a:defRPr>
            </a:pPr>
            <a:r>
              <a:t>Security Group Rule: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Inbound Rule: MYSQL/Aurora (Port 3306) &gt; Source: emptrack-ec2-sg (allows EC2 to connect to RDS)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457200"/>
            <a:ext cx="2743200" cy="2743200"/>
          </a:xfrm>
          <a:prstGeom prst="ellipse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PHASE 4: AWS S3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Setting Up Document &amp; File Storage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698480" cy="731520"/>
          </a:xfrm>
          <a:prstGeom prst="roundRect">
            <a:avLst/>
          </a:prstGeom>
          <a:solidFill>
            <a:srgbClr val="1A2C47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Segoe UI"/>
              </a:defRPr>
            </a:pPr>
            <a:r>
              <a:t>What is Amazon S3 and why do we need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S3 (Simple Storage Service) provides unlimited, highly durable object storage. Employee documents like Resumes, PAN cards, and PDF salary slips are stored here instead of on the EC2 instance.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926080"/>
            <a:ext cx="365760" cy="36576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443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B2D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971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7D9"/>
                </a:solidFill>
                <a:latin typeface="Segoe UI"/>
              </a:defRPr>
            </a:pPr>
            <a:r>
              <a:t>Go to AWS Console &gt; S3 &gt; Create Bucket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21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B2D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749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7D9"/>
                </a:solidFill>
                <a:latin typeface="Segoe UI"/>
              </a:defRPr>
            </a:pPr>
            <a:r>
              <a:t>Bucket Name: emptrack-storage-bucket-2024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480560"/>
            <a:ext cx="365760" cy="36576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988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B2D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526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7D9"/>
                </a:solidFill>
                <a:latin typeface="Segoe UI"/>
              </a:defRPr>
            </a:pPr>
            <a:r>
              <a:t>Region: ap-south-1 (Mumbai) or us-east-1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926080"/>
            <a:ext cx="365760" cy="36576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9443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B2D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971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7D9"/>
                </a:solidFill>
                <a:latin typeface="Segoe UI"/>
              </a:defRPr>
            </a:pPr>
            <a:r>
              <a:t>Block Public Access: Keep enabled for security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3703320"/>
            <a:ext cx="365760" cy="36576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7216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B2D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749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7D9"/>
                </a:solidFill>
                <a:latin typeface="Segoe UI"/>
              </a:defRPr>
            </a:pPr>
            <a:r>
              <a:t>Versioning: Disabled (or enable for audit trail)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4480560"/>
            <a:ext cx="365760" cy="36576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4988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B2D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526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7D9"/>
                </a:solidFill>
                <a:latin typeface="Segoe UI"/>
              </a:defRPr>
            </a:pPr>
            <a:r>
              <a:t>Click Create Bucket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029200"/>
            <a:ext cx="10698480" cy="146304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120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What Gets Stored in S3?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532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Employee Resumes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532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PDF/DOC uploads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943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Aadhaar &amp; PAN Cards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5943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Identity documents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5532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Offer Letters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5532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Employment documents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5943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Salary Slips (PDF)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5943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Auto-generated payslips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5532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Profile Photos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5532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Employee avatars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5943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Certificates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5943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Training &amp; education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457200"/>
            <a:ext cx="2743200" cy="2743200"/>
          </a:xfrm>
          <a:prstGeom prst="ellipse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PHASE 5: DEPLOYMENT &amp; GO-LIVE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Deploying on EC2 with Nginx &amp; Gunicorn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1. Upload Code to EC2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48840"/>
            <a:ext cx="5303520" cy="777240"/>
          </a:xfrm>
          <a:prstGeom prst="round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Consolas"/>
              </a:defRPr>
            </a:pPr>
            <a:r>
              <a:t>scp -i "emptrack-key.pem" employee_system.zip ubuntu@&lt;IP&gt;:~/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2. Install Dependencies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37560"/>
            <a:ext cx="5303520" cy="777240"/>
          </a:xfrm>
          <a:prstGeom prst="round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36499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Consolas"/>
              </a:defRPr>
            </a:pPr>
            <a:r>
              <a:t>sudo apt update &amp;&amp; sudo apt install python3-pip python3-venv nginx -y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3. Setup Virtual Env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526280"/>
            <a:ext cx="5303520" cy="777240"/>
          </a:xfrm>
          <a:prstGeom prst="round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55371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Consolas"/>
              </a:defRPr>
            </a:pPr>
            <a:r>
              <a:t>python3 -m venv venv &amp;&amp; source venv/bin/activate</a:t>
            </a:r>
            <a:br/>
            <a:r>
              <a:t>pip install -r requirements.txt &amp;&amp; pip install gunicorn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949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4. Configure .env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715000"/>
            <a:ext cx="5303520" cy="777240"/>
          </a:xfrm>
          <a:prstGeom prst="round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74243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Consolas"/>
              </a:defRPr>
            </a:pPr>
            <a:r>
              <a:t>nano .env</a:t>
            </a:r>
            <a:br/>
            <a:r>
              <a:t># Set DATABASE_URL to RDS endpoint</a:t>
            </a:r>
            <a:br/>
            <a:r>
              <a:t># Set SECRET_KEY for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828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5. Seed Database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148840"/>
            <a:ext cx="5303520" cy="777240"/>
          </a:xfrm>
          <a:prstGeom prst="round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17627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Consolas"/>
              </a:defRPr>
            </a:pPr>
            <a:r>
              <a:t>python3 seed.py</a:t>
            </a:r>
            <a:br/>
            <a:r>
              <a:t># Creates tables on RDS &amp; inserts demo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017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6. Create Systemd Service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337560"/>
            <a:ext cx="5303520" cy="777240"/>
          </a:xfrm>
          <a:prstGeom prst="round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36499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Consolas"/>
              </a:defRPr>
            </a:pPr>
            <a:r>
              <a:t>sudo nano /etc/systemd/system/emptrack.service</a:t>
            </a:r>
            <a:br/>
            <a:r>
              <a:t>sudo systemctl start emptrack &amp;&amp; sudo systemctl enable emptrack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206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7. Configure Nginx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526280"/>
            <a:ext cx="5303520" cy="777240"/>
          </a:xfrm>
          <a:prstGeom prst="round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55371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Consolas"/>
              </a:defRPr>
            </a:pPr>
            <a:r>
              <a:t>sudo nano /etc/nginx/sites-available/emptrack</a:t>
            </a:r>
            <a:br/>
            <a:r>
              <a:t># Reverse proxy port 80 -&gt; 127.0.0.1:5000</a:t>
            </a:r>
            <a:br/>
            <a:r>
              <a:t>sudo systemctl restart nginx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3949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8. Go Live!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5715000"/>
            <a:ext cx="5303520" cy="777240"/>
          </a:xfrm>
          <a:prstGeom prst="round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574243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Consolas"/>
              </a:defRPr>
            </a:pPr>
            <a:r>
              <a:t>Visit http://&lt;EC2_PUBLIC_IP&gt;</a:t>
            </a:r>
            <a:br/>
            <a:r>
              <a:t># Application is now accessible worldwide!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457200"/>
            <a:ext cx="2743200" cy="2743200"/>
          </a:xfrm>
          <a:prstGeom prst="ellipse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SECURITY &amp; BEST PRACTICES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How We Secured the Application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356616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23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38BE6"/>
                </a:solidFill>
                <a:latin typeface="Segoe UI"/>
              </a:defRPr>
            </a:pPr>
            <a:r>
              <a:t>AWS Security Groups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514600"/>
            <a:ext cx="2651760" cy="19050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Configured firewall rules to allow only</a:t>
            </a:r>
            <a:br/>
            <a:r>
              <a:t>necessary traffic (SSH, HTTP, MySQL)</a:t>
            </a:r>
            <a:br/>
            <a:r>
              <a:t>between EC2, RDS, and the internet.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011680"/>
            <a:ext cx="356616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1488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900"/>
                </a:solidFill>
                <a:latin typeface="Segoe UI"/>
              </a:defRPr>
            </a:pPr>
            <a:r>
              <a:t>VPC Network Isolation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514600"/>
            <a:ext cx="265176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6974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RDS is accessible only from EC2 via</a:t>
            </a:r>
            <a:br/>
            <a:r>
              <a:t>private networking within the same VPC.</a:t>
            </a:r>
            <a:br/>
            <a:r>
              <a:t>No direct public internet access to DB.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011680"/>
            <a:ext cx="356616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1488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AA"/>
                </a:solidFill>
                <a:latin typeface="Segoe UI"/>
              </a:defRPr>
            </a:pPr>
            <a:r>
              <a:t>Password Hashing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2514600"/>
            <a:ext cx="2651760" cy="1905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6974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All user passwords are hashed using</a:t>
            </a:r>
            <a:br/>
            <a:r>
              <a:t>Werkzeug's generate_password_hash()</a:t>
            </a:r>
            <a:br/>
            <a:r>
              <a:t>before storing in the database.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297680"/>
            <a:ext cx="356616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4348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Segoe UI"/>
              </a:defRPr>
            </a:pPr>
            <a:r>
              <a:t>Role-Based Access Control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800600"/>
            <a:ext cx="2651760" cy="190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9834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Flask-Login enforces authentication.</a:t>
            </a:r>
            <a:br/>
            <a:r>
              <a:t>Admin, HR, and Employee roles have</a:t>
            </a:r>
            <a:br/>
            <a:r>
              <a:t>specific permissions and route guards.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4297680"/>
            <a:ext cx="356616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44348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Segoe UI"/>
              </a:defRPr>
            </a:pPr>
            <a:r>
              <a:t>Environment Variables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4800600"/>
            <a:ext cx="2651760" cy="190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9834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.env file stores secrets (DB password,</a:t>
            </a:r>
            <a:br/>
            <a:r>
              <a:t>SECRET_KEY). Never committed to Git.</a:t>
            </a:r>
            <a:br/>
            <a:r>
              <a:t>Included in .gitignore.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4297680"/>
            <a:ext cx="356616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44348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  <a:latin typeface="Segoe UI"/>
              </a:defRPr>
            </a:pPr>
            <a:r>
              <a:t>SSH Key Pair Auth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4800600"/>
            <a:ext cx="2651760" cy="190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49834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EC2 access uses RSA key pair (.pem file)</a:t>
            </a:r>
            <a:br/>
            <a:r>
              <a:t>instead of password authentication.</a:t>
            </a:r>
            <a:br/>
            <a:r>
              <a:t>Key pair stored securely on local machine.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457200"/>
            <a:ext cx="2743200" cy="2743200"/>
          </a:xfrm>
          <a:prstGeom prst="ellipse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SECURITY GROUPS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Firewall Rules for EC2 &amp; 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698480" cy="731520"/>
          </a:xfrm>
          <a:prstGeom prst="roundRect">
            <a:avLst/>
          </a:prstGeom>
          <a:solidFill>
            <a:srgbClr val="1A2C47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Segoe UI"/>
              </a:defRPr>
            </a:pPr>
            <a:r>
              <a:t>What are Security Groups in AWS?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Security Groups act as virtual firewalls for your AWS resources. They control inbound and outbound traffic at the instance level using allow rules.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8BE6"/>
                </a:solidFill>
                <a:latin typeface="Segoe UI"/>
              </a:defRPr>
            </a:pPr>
            <a:r>
              <a:t>EC2 Security Group: emptrack-ec2-sg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737360" cy="347472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1868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38BE6"/>
                </a:solidFill>
                <a:latin typeface="Segoe UI"/>
              </a:defRPr>
            </a:pPr>
            <a:r>
              <a:t>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3200400"/>
            <a:ext cx="1737360" cy="347472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321868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38BE6"/>
                </a:solidFill>
                <a:latin typeface="Segoe UI"/>
              </a:defRPr>
            </a:pPr>
            <a:r>
              <a:t>Protocol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200400"/>
            <a:ext cx="1737360" cy="347472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21868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38BE6"/>
                </a:solidFill>
                <a:latin typeface="Segoe UI"/>
              </a:defRPr>
            </a:pPr>
            <a:r>
              <a:t>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200400"/>
            <a:ext cx="1737360" cy="347472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21868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38BE6"/>
                </a:solidFill>
                <a:latin typeface="Segoe UI"/>
              </a:defRPr>
            </a:pPr>
            <a:r>
              <a:t>Source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200400"/>
            <a:ext cx="1737360" cy="347472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321868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38BE6"/>
                </a:solidFill>
                <a:latin typeface="Segoe UI"/>
              </a:defRPr>
            </a:pPr>
            <a:r>
              <a:t>Purpose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566160"/>
            <a:ext cx="1737360" cy="347472"/>
          </a:xfrm>
          <a:prstGeom prst="round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58444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SSH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0" y="3566160"/>
            <a:ext cx="1737360" cy="347472"/>
          </a:xfrm>
          <a:prstGeom prst="round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60" y="358444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TCP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566160"/>
            <a:ext cx="1737360" cy="347472"/>
          </a:xfrm>
          <a:prstGeom prst="round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358444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566160"/>
            <a:ext cx="1737360" cy="347472"/>
          </a:xfrm>
          <a:prstGeom prst="round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58444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My IP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566160"/>
            <a:ext cx="1737360" cy="347472"/>
          </a:xfrm>
          <a:prstGeom prst="round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358444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Remote Access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931920"/>
            <a:ext cx="1737360" cy="347472"/>
          </a:xfrm>
          <a:prstGeom prst="roundRect">
            <a:avLst/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95020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HTTP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" y="3931920"/>
            <a:ext cx="1737360" cy="347472"/>
          </a:xfrm>
          <a:prstGeom prst="roundRect">
            <a:avLst/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95020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TCP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0" y="3931920"/>
            <a:ext cx="1737360" cy="347472"/>
          </a:xfrm>
          <a:prstGeom prst="roundRect">
            <a:avLst/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395020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80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931920"/>
            <a:ext cx="1737360" cy="347472"/>
          </a:xfrm>
          <a:prstGeom prst="roundRect">
            <a:avLst/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395020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0.0.0.0/0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3931920"/>
            <a:ext cx="1737360" cy="347472"/>
          </a:xfrm>
          <a:prstGeom prst="roundRect">
            <a:avLst/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0" y="395020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Web Access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297680"/>
            <a:ext cx="1737360" cy="347472"/>
          </a:xfrm>
          <a:prstGeom prst="round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43159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Custom TCP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60320" y="4297680"/>
            <a:ext cx="1737360" cy="347472"/>
          </a:xfrm>
          <a:prstGeom prst="round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51760" y="43159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TCP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89120" y="4297680"/>
            <a:ext cx="1737360" cy="347472"/>
          </a:xfrm>
          <a:prstGeom prst="round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0560" y="43159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5000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4297680"/>
            <a:ext cx="1737360" cy="347472"/>
          </a:xfrm>
          <a:prstGeom prst="round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43159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0.0.0.0/0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46720" y="4297680"/>
            <a:ext cx="1737360" cy="347472"/>
          </a:xfrm>
          <a:prstGeom prst="round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38160" y="43159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Flask Port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4937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900"/>
                </a:solidFill>
                <a:latin typeface="Segoe UI"/>
              </a:defRPr>
            </a:pPr>
            <a:r>
              <a:t>RDS Security Group: emptrack-rds-sg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5303520"/>
            <a:ext cx="1737360" cy="347472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532180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900"/>
                </a:solidFill>
                <a:latin typeface="Segoe UI"/>
              </a:defRPr>
            </a:pPr>
            <a:r>
              <a:t>Type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560320" y="5303520"/>
            <a:ext cx="1737360" cy="347472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51760" y="532180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900"/>
                </a:solidFill>
                <a:latin typeface="Segoe UI"/>
              </a:defRPr>
            </a:pPr>
            <a:r>
              <a:t>Protocol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89120" y="5303520"/>
            <a:ext cx="1737360" cy="347472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80560" y="532180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900"/>
                </a:solidFill>
                <a:latin typeface="Segoe UI"/>
              </a:defRPr>
            </a:pPr>
            <a:r>
              <a:t>Port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5303520"/>
            <a:ext cx="1737360" cy="347472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9360" y="532180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900"/>
                </a:solidFill>
                <a:latin typeface="Segoe UI"/>
              </a:defRPr>
            </a:pPr>
            <a:r>
              <a:t>Source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46720" y="5303520"/>
            <a:ext cx="1737360" cy="347472"/>
          </a:xfrm>
          <a:prstGeom prst="roundRect">
            <a:avLst/>
          </a:prstGeom>
          <a:solidFill>
            <a:srgbClr val="1A2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38160" y="532180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900"/>
                </a:solidFill>
                <a:latin typeface="Segoe UI"/>
              </a:defRPr>
            </a:pPr>
            <a:r>
              <a:t>Purpose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1520" y="5669280"/>
            <a:ext cx="1737360" cy="347472"/>
          </a:xfrm>
          <a:prstGeom prst="roundRect">
            <a:avLst/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60" y="56875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MYSQL/Aurora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560320" y="5669280"/>
            <a:ext cx="1737360" cy="347472"/>
          </a:xfrm>
          <a:prstGeom prst="roundRect">
            <a:avLst/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651760" y="56875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TCP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389120" y="5669280"/>
            <a:ext cx="1737360" cy="347472"/>
          </a:xfrm>
          <a:prstGeom prst="roundRect">
            <a:avLst/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80560" y="56875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3306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17920" y="5669280"/>
            <a:ext cx="1737360" cy="347472"/>
          </a:xfrm>
          <a:prstGeom prst="roundRect">
            <a:avLst/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09360" y="56875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emptrack-ec2-sg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046720" y="5669280"/>
            <a:ext cx="1737360" cy="347472"/>
          </a:xfrm>
          <a:prstGeom prst="roundRect">
            <a:avLst/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138160" y="568756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EC2 -&gt; RDS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457200"/>
            <a:ext cx="2743200" cy="2743200"/>
          </a:xfrm>
          <a:prstGeom prst="ellipse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APPLICATION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Key Modules of EmpTrack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011680"/>
            <a:ext cx="274320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23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48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38BE6"/>
                </a:solidFill>
                <a:latin typeface="Segoe UI"/>
              </a:defRPr>
            </a:pPr>
            <a:r>
              <a:t>QR Code Attendance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14600"/>
            <a:ext cx="2011680" cy="19050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Admin generates daily QR code.</a:t>
            </a:r>
            <a:br/>
            <a:r>
              <a:t>Employees scan to check in/out.</a:t>
            </a:r>
            <a:br/>
            <a:r>
              <a:t>Prevents proxy attendance.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011680"/>
            <a:ext cx="274320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2148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GPS Verification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514600"/>
            <a:ext cx="201168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6974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Browser Geolocation API captures</a:t>
            </a:r>
            <a:br/>
            <a:r>
              <a:t>employee coordinates.</a:t>
            </a:r>
            <a:br/>
            <a:r>
              <a:t>Attendance accepted only if in range.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011680"/>
            <a:ext cx="274320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148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Automated Payroll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514600"/>
            <a:ext cx="2011680" cy="1905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6974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Indian tax slabs, PF (12%),</a:t>
            </a:r>
            <a:br/>
            <a:r>
              <a:t>ESI (0.75%), TDS calculation.</a:t>
            </a:r>
            <a:br/>
            <a:r>
              <a:t>Auto-generated monthly payroll.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011680"/>
            <a:ext cx="274320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2148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Segoe UI"/>
              </a:defRPr>
            </a:pPr>
            <a:r>
              <a:t>PDF Salary Slips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2514600"/>
            <a:ext cx="2011680" cy="190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26974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ReportLab generates professional</a:t>
            </a:r>
            <a:br/>
            <a:r>
              <a:t>print-ready salary slips with</a:t>
            </a:r>
            <a:br/>
            <a:r>
              <a:t>complete earnings &amp; deductions.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297680"/>
            <a:ext cx="274320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434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Leave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800600"/>
            <a:ext cx="2011680" cy="190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9834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Casual, Sick, Earned leave tracking.</a:t>
            </a:r>
            <a:br/>
            <a:r>
              <a:t>HR approval workflow.</a:t>
            </a:r>
            <a:br/>
            <a:r>
              <a:t>Auto-deduction from payroll.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4297680"/>
            <a:ext cx="274320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23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0" y="4434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38BE6"/>
                </a:solidFill>
                <a:latin typeface="Segoe UI"/>
              </a:defRPr>
            </a:pPr>
            <a:r>
              <a:t>Document Storage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0" y="4800600"/>
            <a:ext cx="2011680" cy="19050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49834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Upload Resumes, PAN, Aadhaar.</a:t>
            </a:r>
            <a:br/>
            <a:r>
              <a:t>Stored securely on AWS S3.</a:t>
            </a:r>
            <a:br/>
            <a:r>
              <a:t>Admin/HR download access.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297680"/>
            <a:ext cx="274320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4434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Role-Based Dashboards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4800600"/>
            <a:ext cx="201168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49834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Admin: Full control &amp; analytics.</a:t>
            </a:r>
            <a:br/>
            <a:r>
              <a:t>HR: Attendance &amp; leave mgmt.</a:t>
            </a:r>
            <a:br/>
            <a:r>
              <a:t>Employee: Self-service portal.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4297680"/>
            <a:ext cx="274320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4434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Audit Logging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760" y="4800600"/>
            <a:ext cx="2011680" cy="190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49834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Every login, action, and change</a:t>
            </a:r>
            <a:br/>
            <a:r>
              <a:t>is recorded in audit trail.</a:t>
            </a:r>
            <a:br/>
            <a:r>
              <a:t>Admin can review all system activity.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457200"/>
            <a:ext cx="2743200" cy="2743200"/>
          </a:xfrm>
          <a:prstGeom prst="ellipse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DATABASE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MySQL Database Schema on AWS 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011680"/>
            <a:ext cx="274320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23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38BE6"/>
                </a:solidFill>
                <a:latin typeface="Segoe UI"/>
              </a:defRPr>
            </a:pPr>
            <a:r>
              <a:t>users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2011680" cy="19050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7D9"/>
                </a:solidFill>
                <a:latin typeface="Consolas"/>
              </a:defRPr>
            </a:pPr>
            <a:r>
              <a:t>id, employee_id, name, email,</a:t>
            </a:r>
            <a:br/>
            <a:r>
              <a:t>password_hash, role, department_id,</a:t>
            </a:r>
            <a:br/>
            <a:r>
              <a:t>designation, base_salary, phone,</a:t>
            </a:r>
            <a:br/>
            <a:r>
              <a:t>join_date, pan_number, bank_account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011680"/>
            <a:ext cx="274320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departments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468880"/>
            <a:ext cx="201168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6517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7D9"/>
                </a:solidFill>
                <a:latin typeface="Consolas"/>
              </a:defRPr>
            </a:pPr>
            <a:r>
              <a:t>id, name, description,</a:t>
            </a:r>
            <a:br/>
            <a:r>
              <a:t>created_at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011680"/>
            <a:ext cx="274320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attendance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468880"/>
            <a:ext cx="2011680" cy="1905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6517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7D9"/>
                </a:solidFill>
                <a:latin typeface="Consolas"/>
              </a:defRPr>
            </a:pPr>
            <a:r>
              <a:t>id, employee_id, date, check_in,</a:t>
            </a:r>
            <a:br/>
            <a:r>
              <a:t>check_out, status, method,</a:t>
            </a:r>
            <a:br/>
            <a:r>
              <a:t>work_hours, overtime_hours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011680"/>
            <a:ext cx="274320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Segoe UI"/>
              </a:defRPr>
            </a:pPr>
            <a:r>
              <a:t>leave_requests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2468880"/>
            <a:ext cx="2011680" cy="190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26517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7D9"/>
                </a:solidFill>
                <a:latin typeface="Consolas"/>
              </a:defRPr>
            </a:pPr>
            <a:r>
              <a:t>id, employee_id, leave_type,</a:t>
            </a:r>
            <a:br/>
            <a:r>
              <a:t>from_date, to_date, days,</a:t>
            </a:r>
            <a:br/>
            <a:r>
              <a:t>reason, status, approved_by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297680"/>
            <a:ext cx="274320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leave_balances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754880"/>
            <a:ext cx="2011680" cy="190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9377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7D9"/>
                </a:solidFill>
                <a:latin typeface="Consolas"/>
              </a:defRPr>
            </a:pPr>
            <a:r>
              <a:t>id, employee_id, casual_leave,</a:t>
            </a:r>
            <a:br/>
            <a:r>
              <a:t>sick_leave, earned_leave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4297680"/>
            <a:ext cx="274320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0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payroll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0" y="4754880"/>
            <a:ext cx="201168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49377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7D9"/>
                </a:solidFill>
                <a:latin typeface="Consolas"/>
              </a:defRPr>
            </a:pPr>
            <a:r>
              <a:t>id, employee_id, month, year,</a:t>
            </a:r>
            <a:br/>
            <a:r>
              <a:t>base_salary, gross_earnings,</a:t>
            </a:r>
            <a:br/>
            <a:r>
              <a:t>pf, esi, tds, net_salary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297680"/>
            <a:ext cx="274320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23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38BE6"/>
                </a:solidFill>
                <a:latin typeface="Segoe UI"/>
              </a:defRPr>
            </a:pPr>
            <a:r>
              <a:t>documents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4754880"/>
            <a:ext cx="2011680" cy="19050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9377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7D9"/>
                </a:solidFill>
                <a:latin typeface="Consolas"/>
              </a:defRPr>
            </a:pPr>
            <a:r>
              <a:t>id, employee_id, doc_type,</a:t>
            </a:r>
            <a:br/>
            <a:r>
              <a:t>original_filename, stored_filename,</a:t>
            </a:r>
            <a:br/>
            <a:r>
              <a:t>file_path, file_size, mime_type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4297680"/>
            <a:ext cx="274320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audit_logs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760" y="4754880"/>
            <a:ext cx="2011680" cy="190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49377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7D9"/>
                </a:solidFill>
                <a:latin typeface="Consolas"/>
              </a:defRPr>
            </a:pPr>
            <a:r>
              <a:t>id, user_id, action, target_type,</a:t>
            </a:r>
            <a:br/>
            <a:r>
              <a:t>target_id, details, ip_address,</a:t>
            </a:r>
            <a:br/>
            <a:r>
              <a:t>timestamp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457200"/>
            <a:ext cx="2743200" cy="2743200"/>
          </a:xfrm>
          <a:prstGeom prst="ellipse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PROJECT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Development Phases &amp; Milestones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520440"/>
            <a:ext cx="96012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3040" y="3383280"/>
            <a:ext cx="320040" cy="320040"/>
          </a:xfrm>
          <a:prstGeom prst="ellipse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38BE6"/>
                </a:solidFill>
                <a:latin typeface="Segoe UI"/>
              </a:defRPr>
            </a:pPr>
            <a:r>
              <a:t>Week 1-2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Planning &amp; 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210312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23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605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Requirements gathering, architecture</a:t>
            </a:r>
            <a:br/>
            <a:r>
              <a:t>design, AWS service selection,</a:t>
            </a:r>
            <a:br/>
            <a:r>
              <a:t>technology stack finalization</a:t>
            </a:r>
          </a:p>
        </p:txBody>
      </p:sp>
      <p:sp>
        <p:nvSpPr>
          <p:cNvPr id="13" name="Oval 12"/>
          <p:cNvSpPr/>
          <p:nvPr/>
        </p:nvSpPr>
        <p:spPr>
          <a:xfrm>
            <a:off x="3703320" y="3383280"/>
            <a:ext cx="320040" cy="32004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2560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Week 3-4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880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Backend Development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1800" y="4023360"/>
            <a:ext cx="210312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41605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Flask app factory, SQLAlchemy models,</a:t>
            </a:r>
            <a:br/>
            <a:r>
              <a:t>payroll engine with Indian tax logic,</a:t>
            </a:r>
            <a:br/>
            <a:r>
              <a:t>QR service, PDF generator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0" y="3383280"/>
            <a:ext cx="320040" cy="3200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2560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Week 5-6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880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Frontend &amp; Templates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80" y="4023360"/>
            <a:ext cx="210312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41605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30+ Jinja2 templates, custom CSS</a:t>
            </a:r>
            <a:br/>
            <a:r>
              <a:t>design system, responsive layouts,</a:t>
            </a:r>
            <a:br/>
            <a:r>
              <a:t>Chart.js dashboards, JS interactions</a:t>
            </a:r>
          </a:p>
        </p:txBody>
      </p:sp>
      <p:sp>
        <p:nvSpPr>
          <p:cNvPr id="23" name="Oval 22"/>
          <p:cNvSpPr/>
          <p:nvPr/>
        </p:nvSpPr>
        <p:spPr>
          <a:xfrm>
            <a:off x="8183880" y="3383280"/>
            <a:ext cx="320040" cy="320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2560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Segoe UI"/>
              </a:defRPr>
            </a:pPr>
            <a:r>
              <a:t>Week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880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AWS Infrastructure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4023360"/>
            <a:ext cx="210312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41605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EC2 launch, RDS MySQL setup,</a:t>
            </a:r>
            <a:br/>
            <a:r>
              <a:t>S3 bucket creation, security groups</a:t>
            </a:r>
            <a:br/>
            <a:r>
              <a:t>configuration, VPC networking</a:t>
            </a:r>
          </a:p>
        </p:txBody>
      </p:sp>
      <p:sp>
        <p:nvSpPr>
          <p:cNvPr id="28" name="Oval 27"/>
          <p:cNvSpPr/>
          <p:nvPr/>
        </p:nvSpPr>
        <p:spPr>
          <a:xfrm>
            <a:off x="10424160" y="3383280"/>
            <a:ext cx="320040" cy="3200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2560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Week 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880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Deployment &amp; Testing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92640" y="4023360"/>
            <a:ext cx="210312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9800" y="41605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Nginx + Gunicorn setup, systemd</a:t>
            </a:r>
            <a:br/>
            <a:r>
              <a:t>service, database seeding on RDS,</a:t>
            </a:r>
            <a:br/>
            <a:r>
              <a:t>end-to-end testing, go-live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457200"/>
            <a:ext cx="2743200" cy="2743200"/>
          </a:xfrm>
          <a:prstGeom prst="ellipse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Working Application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  <a:latin typeface="Segoe UI"/>
              </a:defRPr>
            </a:pPr>
            <a:r>
              <a:t>Access URL:  http://&lt;EC2_PUBLIC_IP&gt;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3566160" cy="228600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23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38BE6"/>
                </a:solidFill>
                <a:latin typeface="Segoe UI"/>
              </a:defRPr>
            </a:pPr>
            <a:r>
              <a:t>Admin Login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429000"/>
            <a:ext cx="2651760" cy="19050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11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Email: admin@emptrack.com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86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Password: Admin@123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Full system control, analytics, payroll processing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926080"/>
            <a:ext cx="3566160" cy="228600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30632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900"/>
                </a:solidFill>
                <a:latin typeface="Segoe UI"/>
              </a:defRPr>
            </a:pPr>
            <a:r>
              <a:t>HR Login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3429000"/>
            <a:ext cx="265176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611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Email: hr@emptrack.com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886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Password: Hr@123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297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Attendance management, leave approvals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926080"/>
            <a:ext cx="3566160" cy="228600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30632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AA"/>
                </a:solidFill>
                <a:latin typeface="Segoe UI"/>
              </a:defRPr>
            </a:pPr>
            <a:r>
              <a:t>Employee Login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3429000"/>
            <a:ext cx="2651760" cy="1905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3611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Email: emp@emptrack.com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886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Password: Emp@123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297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BB0"/>
                </a:solidFill>
                <a:latin typeface="Segoe UI"/>
              </a:defRPr>
            </a:pPr>
            <a:r>
              <a:t>Self-service: attendance, leave, salary slips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94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Demo Walkthrough: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760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1. Login as Admin &gt; View Dashboard with analytics charts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080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2. Navigate to Attendance &gt; Generate QR Code for office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3. Login as Employee &gt; Scan QR to mark attendance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760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4. Apply for Leave &gt; Login as HR &gt; Approve/Reject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6080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5. Admin: Run Payroll &gt; Employee: Download PDF Salary Slip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6. Upload Employee Documents &gt; View in Documents section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457200"/>
            <a:ext cx="2743200" cy="2743200"/>
          </a:xfrm>
          <a:prstGeom prst="ellipse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CHALLENGES &amp;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Problems We Faced &amp; How We Solved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MySQL Auth Error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5029200" cy="68580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Problem: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359152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MySQL 8+ uses caching_sha2_password</a:t>
            </a:r>
            <a:br/>
            <a:r>
              <a:t>authentication by default.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331720"/>
            <a:ext cx="5486400" cy="68580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23591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Solution: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359152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Installed the "cryptography" Python</a:t>
            </a:r>
            <a:br/>
            <a:r>
              <a:t>package to support SHA256 auth.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154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Ambiguous Foreign Keys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74720"/>
            <a:ext cx="5029200" cy="68580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021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Problem: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502152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SQLAlchemy threw AmbiguousForeignKeysError</a:t>
            </a:r>
            <a:br/>
            <a:r>
              <a:t>on the Document model (2 FK to users).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474720"/>
            <a:ext cx="5486400" cy="68580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5021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Solution: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502152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Added explicit foreign_keys parameter</a:t>
            </a:r>
            <a:br/>
            <a:r>
              <a:t>to the db.relationship() definition.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Security Group Config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617720"/>
            <a:ext cx="5029200" cy="68580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6451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Problem: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645152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EC2 could not connect to RDS.</a:t>
            </a:r>
            <a:br/>
            <a:r>
              <a:t>Connection timed out on port 3306.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4617720"/>
            <a:ext cx="5486400" cy="68580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46451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Solution: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645152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Added inbound rule on RDS security group</a:t>
            </a:r>
            <a:br/>
            <a:r>
              <a:t>to allow traffic from EC2 security group.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40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Special Chars in Password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760720"/>
            <a:ext cx="5029200" cy="68580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7881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Problem: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788152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DB password with "@" broke the</a:t>
            </a:r>
            <a:br/>
            <a:r>
              <a:t>connection string URL format.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0" y="5760720"/>
            <a:ext cx="5486400" cy="68580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57881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Segoe UI"/>
              </a:defRPr>
            </a:pPr>
            <a:r>
              <a:t>Solution: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5788152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7D9"/>
                </a:solidFill>
                <a:latin typeface="Segoe UI"/>
              </a:defRPr>
            </a:pPr>
            <a:r>
              <a:t>URL-encoded special characters.</a:t>
            </a:r>
            <a:br/>
            <a:r>
              <a:t>@ becomes %40 in the connection string.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457200"/>
            <a:ext cx="2743200" cy="2743200"/>
          </a:xfrm>
          <a:prstGeom prst="ellipse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What Can Be Added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356616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23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38BE6"/>
                </a:solidFill>
                <a:latin typeface="Segoe UI"/>
              </a:defRPr>
            </a:pPr>
            <a:r>
              <a:t>Face Recognition Attendance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514600"/>
            <a:ext cx="2651760" cy="19050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Use OpenCV + AWS Rekognition for</a:t>
            </a:r>
            <a:br/>
            <a:r>
              <a:t>biometric face-based attendance.</a:t>
            </a:r>
            <a:br/>
            <a:r>
              <a:t>Eliminates all proxy attendance.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011680"/>
            <a:ext cx="356616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1488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9900"/>
                </a:solidFill>
                <a:latin typeface="Segoe UI"/>
              </a:defRPr>
            </a:pPr>
            <a:r>
              <a:t>Auto-Scaling with ELB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514600"/>
            <a:ext cx="2651760" cy="190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6974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Add Elastic Load Balancer and</a:t>
            </a:r>
            <a:br/>
            <a:r>
              <a:t>Auto Scaling Group for handling</a:t>
            </a:r>
            <a:br/>
            <a:r>
              <a:t>traffic spikes during peak hours.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011680"/>
            <a:ext cx="356616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1488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4AA"/>
                </a:solidFill>
                <a:latin typeface="Segoe UI"/>
              </a:defRPr>
            </a:pPr>
            <a:r>
              <a:t>Email/SMS Notifications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2514600"/>
            <a:ext cx="2651760" cy="1905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6974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AWS SES for email and SNS for SMS</a:t>
            </a:r>
            <a:br/>
            <a:r>
              <a:t>notifications on leave approvals,</a:t>
            </a:r>
            <a:br/>
            <a:r>
              <a:t>payroll generation, and alerts.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297680"/>
            <a:ext cx="356616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4348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C3AED"/>
                </a:solidFill>
                <a:latin typeface="Segoe UI"/>
              </a:defRPr>
            </a:pPr>
            <a:r>
              <a:t>CI/CD Pipeline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800600"/>
            <a:ext cx="2651760" cy="1905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9834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AWS CodePipeline + CodeDeploy for</a:t>
            </a:r>
            <a:br/>
            <a:r>
              <a:t>automated deployments from GitHub.</a:t>
            </a:r>
            <a:br/>
            <a:r>
              <a:t>Zero-downtime rolling updates.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4297680"/>
            <a:ext cx="356616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44348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2C55E"/>
                </a:solidFill>
                <a:latin typeface="Segoe UI"/>
              </a:defRPr>
            </a:pPr>
            <a:r>
              <a:t>CloudWatch Monitoring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4800600"/>
            <a:ext cx="2651760" cy="190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9834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Set up AWS CloudWatch for</a:t>
            </a:r>
            <a:br/>
            <a:r>
              <a:t>performance monitoring, log analysis,</a:t>
            </a:r>
            <a:br/>
            <a:r>
              <a:t>and custom metric alarms.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4297680"/>
            <a:ext cx="3566160" cy="201168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238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44348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38BE6"/>
                </a:solidFill>
                <a:latin typeface="Segoe UI"/>
              </a:defRPr>
            </a:pPr>
            <a:r>
              <a:t>Mobile Application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4800600"/>
            <a:ext cx="2651760" cy="19050"/>
          </a:xfrm>
          <a:prstGeom prst="rect">
            <a:avLst/>
          </a:prstGeom>
          <a:solidFill>
            <a:srgbClr val="238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49834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React Native or Flutter mobile app</a:t>
            </a:r>
            <a:br/>
            <a:r>
              <a:t>for attendance marking on-the-go</a:t>
            </a:r>
            <a:br/>
            <a:r>
              <a:t>with push notifications.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457200"/>
            <a:ext cx="2743200" cy="2743200"/>
          </a:xfrm>
          <a:prstGeom prst="ellipse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Summary &amp; Key Takeaways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920240"/>
            <a:ext cx="365760" cy="3657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385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B2D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Successfully Deployed on AWS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1284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The EmpTrack application is live on AWS EC2 with RDS MySQL backend and S3 storage, accessible worldwide via public IP.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834640"/>
            <a:ext cx="365760" cy="3657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529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B2D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834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End-to-End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2724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From QR-based attendance marking to automated payroll with Indian tax calculations and PDF salary slip generation — fully automated.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749040"/>
            <a:ext cx="365760" cy="3657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673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B2D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749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Production-Grade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04164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Nginx reverse proxy, Gunicorn WSGI server, systemd service, VPC security groups — enterprise-level deployment stack.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663440"/>
            <a:ext cx="365760" cy="3657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6817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B2D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663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Scalable &amp; Secure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95604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The architecture supports horizontal scaling with AWS Auto Scaling Groups, Load Balancers, and multi-AZ RDS failover.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5577840"/>
            <a:ext cx="365760" cy="3657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5961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B2D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577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Hands-On Cloud 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87044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This project provided practical experience with AWS EC2, RDS, S3, IAM, Security Groups, VPC networking, and Linux server administration.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457200"/>
            <a:ext cx="2743200" cy="2743200"/>
          </a:xfrm>
          <a:prstGeom prst="ellipse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743200"/>
            <a:ext cx="3017520" cy="50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C7D9"/>
                </a:solidFill>
                <a:latin typeface="Segoe UI"/>
              </a:defRPr>
            </a:pPr>
            <a:r>
              <a:t>Cloud-Based Smart Employee Attendance &amp; Payroll Management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4114800"/>
            <a:ext cx="5760720" cy="1828800"/>
          </a:xfrm>
          <a:prstGeom prst="roundRect">
            <a:avLst/>
          </a:prstGeom>
          <a:solidFill>
            <a:srgbClr val="15233A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  <a:latin typeface="Segoe UI"/>
              </a:defRPr>
            </a:pPr>
            <a:r>
              <a:t>Project: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4206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EmpTrack — Employee Attendance &amp; Payroll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  <a:latin typeface="Segoe UI"/>
              </a:defRPr>
            </a:pPr>
            <a:r>
              <a:t>Deployed 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526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AWS EC2 + RDS MySQL + S3 Bucket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  <a:latin typeface="Segoe UI"/>
              </a:defRPr>
            </a:pPr>
            <a:r>
              <a:t>Tech Stack: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4846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Python Flask, MySQL, Nginx, Gunicorn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  <a:latin typeface="Segoe UI"/>
              </a:defRPr>
            </a:pPr>
            <a:r>
              <a:t>Presented By: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5166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Chetan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486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  <a:latin typeface="Segoe UI"/>
              </a:defRPr>
            </a:pPr>
            <a:r>
              <a:t>Internship: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486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7D9"/>
                </a:solidFill>
                <a:latin typeface="Segoe UI"/>
              </a:defRPr>
            </a:pPr>
            <a:r>
              <a:t>Cloud Computing — August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38BE6"/>
                </a:solidFill>
                <a:latin typeface="Segoe U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